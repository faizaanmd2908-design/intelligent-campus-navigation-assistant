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embeddedFontLst>
    <p:embeddedFont>
      <p:font typeface="Inter" panose="020B0604020202020204" charset="0"/>
      <p:regular r:id="rId9"/>
    </p:embeddedFont>
    <p:embeddedFont>
      <p:font typeface="Inter 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2417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8.sv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925119" y="1054671"/>
            <a:ext cx="1140916" cy="266402"/>
          </a:xfrm>
          <a:prstGeom prst="roundRect">
            <a:avLst>
              <a:gd name="adj" fmla="val 17880"/>
            </a:avLst>
          </a:prstGeom>
          <a:solidFill>
            <a:srgbClr val="DADBF1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10174" y="1131168"/>
            <a:ext cx="113407" cy="11340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180284" y="1097161"/>
            <a:ext cx="1257895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CFAI PROJECT</a:t>
            </a:r>
            <a:endParaRPr lang="en-US" sz="850" dirty="0"/>
          </a:p>
        </p:txBody>
      </p:sp>
      <p:sp>
        <p:nvSpPr>
          <p:cNvPr id="6" name="Text 2"/>
          <p:cNvSpPr/>
          <p:nvPr/>
        </p:nvSpPr>
        <p:spPr>
          <a:xfrm>
            <a:off x="3925119" y="1377776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Intelligent Campus Navigation Assistant</a:t>
            </a:r>
            <a:endParaRPr lang="en-US" sz="2750" dirty="0"/>
          </a:p>
        </p:txBody>
      </p:sp>
      <p:sp>
        <p:nvSpPr>
          <p:cNvPr id="7" name="Text 3"/>
          <p:cNvSpPr/>
          <p:nvPr/>
        </p:nvSpPr>
        <p:spPr>
          <a:xfrm>
            <a:off x="3925119" y="2476351"/>
            <a:ext cx="4722763" cy="1612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Using </a:t>
            </a:r>
            <a:r>
              <a:rPr lang="en-US" sz="11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BFS</a:t>
            </a: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</a:t>
            </a:r>
            <a:r>
              <a:rPr lang="en-US" sz="11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UCS</a:t>
            </a: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</a:t>
            </a:r>
            <a:r>
              <a:rPr lang="en-US" sz="11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A* Search</a:t>
            </a: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Algorithms</a:t>
            </a:r>
            <a:endParaRPr lang="en-US" sz="1100" dirty="0"/>
          </a:p>
          <a:p>
            <a:pPr marL="0" indent="0" algn="l">
              <a:lnSpc>
                <a:spcPct val="133000"/>
              </a:lnSpc>
              <a:spcAft>
                <a:spcPts val="1250"/>
              </a:spcAft>
              <a:buNone/>
            </a:pPr>
            <a:r>
              <a:rPr lang="en-US" sz="1100" dirty="0">
                <a:solidFill>
                  <a:srgbClr val="4950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Computational Foundations of Artificial Intelligence</a:t>
            </a:r>
            <a:endParaRPr lang="en-US" sz="1100" dirty="0"/>
          </a:p>
          <a:p>
            <a:pPr marL="0" indent="0" algn="l">
              <a:lnSpc>
                <a:spcPct val="133000"/>
              </a:lnSpc>
              <a:spcAft>
                <a:spcPts val="1250"/>
              </a:spcAft>
              <a:buNone/>
            </a:pPr>
            <a:r>
              <a:rPr lang="en-US" sz="1100" dirty="0">
                <a:solidFill>
                  <a:srgbClr val="4950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12 | BATCH 17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Faizaan (2520030359) · Ishaan (2520030267) · Anirudh (2520080058)</a:t>
            </a:r>
            <a:endParaRPr lang="en-US" sz="11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612C978-C1F5-ABDD-37E7-32C01C93D3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2156" y="4815951"/>
            <a:ext cx="1571844" cy="25721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B5E3395-93A4-AB09-509F-E5BC89D659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4031" y="70338"/>
            <a:ext cx="1641158" cy="7033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1643" y="353318"/>
            <a:ext cx="873844" cy="217215"/>
          </a:xfrm>
          <a:prstGeom prst="roundRect">
            <a:avLst>
              <a:gd name="adj" fmla="val 18160"/>
            </a:avLst>
          </a:prstGeom>
          <a:noFill/>
          <a:ln w="4763">
            <a:solidFill>
              <a:srgbClr val="4950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6801" y="393278"/>
            <a:ext cx="1180728" cy="1372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700" dirty="0">
                <a:solidFill>
                  <a:srgbClr val="4950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INTRODUCTION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21643" y="609377"/>
            <a:ext cx="4426223" cy="366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What Does This Project Do?</a:t>
            </a:r>
            <a:endParaRPr lang="en-US" sz="23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643" y="1231329"/>
            <a:ext cx="5165154" cy="292685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77905" y="1448972"/>
            <a:ext cx="2649066" cy="21242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project models a college campus as a </a:t>
            </a:r>
            <a:r>
              <a:rPr lang="en-US" sz="12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weighted graph</a:t>
            </a:r>
            <a:r>
              <a:rPr lang="en-US" sz="12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nodes represent locations, edges represent paths with associated distance and time costs.</a:t>
            </a:r>
          </a:p>
          <a:p>
            <a:pPr marL="0" indent="0" algn="l">
              <a:lnSpc>
                <a:spcPct val="122000"/>
              </a:lnSpc>
              <a:buNone/>
            </a:pPr>
            <a:endParaRPr lang="en-US" sz="12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12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AI search algorithms find the </a:t>
            </a:r>
            <a:r>
              <a:rPr lang="en-US" sz="12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optimal route</a:t>
            </a:r>
            <a:r>
              <a:rPr lang="en-US" sz="12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between any two campus locations:</a:t>
            </a:r>
            <a:endParaRPr lang="en-US" sz="12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5621" y="4380421"/>
            <a:ext cx="176064" cy="1760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03089" y="4376812"/>
            <a:ext cx="1467445" cy="183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BFS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903089" y="4618509"/>
            <a:ext cx="2237705" cy="171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Explores all nodes level by level</a:t>
            </a:r>
            <a:endParaRPr lang="en-US" sz="9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06291" y="4380421"/>
            <a:ext cx="176064" cy="1760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643759" y="4376812"/>
            <a:ext cx="1467445" cy="183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UCS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3643759" y="4618509"/>
            <a:ext cx="2237780" cy="171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Expands the lowest-cost path first</a:t>
            </a:r>
            <a:endParaRPr lang="en-US" sz="9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7036" y="4380421"/>
            <a:ext cx="176064" cy="17606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384503" y="4376812"/>
            <a:ext cx="1467445" cy="1834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A*</a:t>
            </a:r>
            <a:endParaRPr lang="en-US" sz="1150" dirty="0"/>
          </a:p>
        </p:txBody>
      </p:sp>
      <p:sp>
        <p:nvSpPr>
          <p:cNvPr id="15" name="Text 9"/>
          <p:cNvSpPr/>
          <p:nvPr/>
        </p:nvSpPr>
        <p:spPr>
          <a:xfrm>
            <a:off x="6384503" y="4618509"/>
            <a:ext cx="2237705" cy="1716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Combines cost + heuristic for efficiency</a:t>
            </a:r>
            <a:endParaRPr lang="en-US" sz="9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E436606-DCF7-3775-52BC-550D6F5F27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2156" y="4883651"/>
            <a:ext cx="1571844" cy="2572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38721" y="263500"/>
            <a:ext cx="1252835" cy="149796"/>
          </a:xfrm>
          <a:prstGeom prst="roundRect">
            <a:avLst>
              <a:gd name="adj" fmla="val 20371"/>
            </a:avLst>
          </a:prstGeom>
          <a:solidFill>
            <a:srgbClr val="DADBF1"/>
          </a:solidFill>
          <a:ln/>
        </p:spPr>
      </p:sp>
      <p:sp>
        <p:nvSpPr>
          <p:cNvPr id="3" name="Text 1"/>
          <p:cNvSpPr/>
          <p:nvPr/>
        </p:nvSpPr>
        <p:spPr>
          <a:xfrm>
            <a:off x="1493193" y="290736"/>
            <a:ext cx="1601093" cy="95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TECHNOLOGIES &amp; AI CONCEPTS</a:t>
            </a:r>
            <a:endParaRPr lang="en-US" sz="550" dirty="0"/>
          </a:p>
        </p:txBody>
      </p:sp>
      <p:sp>
        <p:nvSpPr>
          <p:cNvPr id="4" name="Text 2"/>
          <p:cNvSpPr/>
          <p:nvPr/>
        </p:nvSpPr>
        <p:spPr>
          <a:xfrm>
            <a:off x="1438721" y="436513"/>
            <a:ext cx="2727647" cy="283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Under the Hood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38721" y="865584"/>
            <a:ext cx="1592387" cy="1419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Technologies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438721" y="1072902"/>
            <a:ext cx="1482179" cy="663550"/>
          </a:xfrm>
          <a:prstGeom prst="roundRect">
            <a:avLst>
              <a:gd name="adj" fmla="val 5749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34269" y="1168450"/>
            <a:ext cx="272430" cy="272430"/>
          </a:xfrm>
          <a:prstGeom prst="roundRect">
            <a:avLst>
              <a:gd name="adj" fmla="val 20975768"/>
            </a:avLst>
          </a:prstGeom>
          <a:solidFill>
            <a:srgbClr val="4950BC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09204" y="1243385"/>
            <a:ext cx="122560" cy="1225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34269" y="1498997"/>
            <a:ext cx="1135187" cy="1419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Python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979018" y="1072902"/>
            <a:ext cx="1482254" cy="663550"/>
          </a:xfrm>
          <a:prstGeom prst="roundRect">
            <a:avLst>
              <a:gd name="adj" fmla="val 5749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074566" y="1168450"/>
            <a:ext cx="272430" cy="272430"/>
          </a:xfrm>
          <a:prstGeom prst="roundRect">
            <a:avLst>
              <a:gd name="adj" fmla="val 20975768"/>
            </a:avLst>
          </a:prstGeom>
          <a:solidFill>
            <a:srgbClr val="4950BC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49501" y="1243385"/>
            <a:ext cx="122560" cy="1225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074566" y="1498997"/>
            <a:ext cx="1135187" cy="1419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heapq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1438721" y="1794570"/>
            <a:ext cx="1482179" cy="663550"/>
          </a:xfrm>
          <a:prstGeom prst="roundRect">
            <a:avLst>
              <a:gd name="adj" fmla="val 5749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534269" y="1890117"/>
            <a:ext cx="272430" cy="272430"/>
          </a:xfrm>
          <a:prstGeom prst="roundRect">
            <a:avLst>
              <a:gd name="adj" fmla="val 20975768"/>
            </a:avLst>
          </a:prstGeom>
          <a:solidFill>
            <a:srgbClr val="4950BC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09204" y="1965052"/>
            <a:ext cx="122560" cy="1225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34269" y="2220664"/>
            <a:ext cx="1135187" cy="1419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deque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2979018" y="1794570"/>
            <a:ext cx="1482254" cy="663550"/>
          </a:xfrm>
          <a:prstGeom prst="roundRect">
            <a:avLst>
              <a:gd name="adj" fmla="val 5749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074566" y="1890117"/>
            <a:ext cx="272430" cy="272430"/>
          </a:xfrm>
          <a:prstGeom prst="roundRect">
            <a:avLst>
              <a:gd name="adj" fmla="val 20975768"/>
            </a:avLst>
          </a:prstGeom>
          <a:solidFill>
            <a:srgbClr val="4950BC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49501" y="1965052"/>
            <a:ext cx="122560" cy="1225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3074566" y="2220664"/>
            <a:ext cx="1135187" cy="1419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Adjacency Lists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4687491" y="720254"/>
            <a:ext cx="1592387" cy="28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AI Concepts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4687491" y="1065609"/>
            <a:ext cx="3022550" cy="12969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11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State-space representation</a:t>
            </a: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each location is a state</a:t>
            </a:r>
            <a:endParaRPr lang="en-US" sz="110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11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Heuristic search</a:t>
            </a: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A* estimates remaining distance</a:t>
            </a:r>
            <a:endParaRPr lang="en-US" sz="110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11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optimization</a:t>
            </a: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UCS minimizes cumulative cost</a:t>
            </a:r>
            <a:endParaRPr lang="en-US" sz="1100" dirty="0"/>
          </a:p>
          <a:p>
            <a:pPr marL="342900" indent="-342900" algn="l">
              <a:lnSpc>
                <a:spcPct val="109000"/>
              </a:lnSpc>
              <a:buSzPct val="100000"/>
              <a:buChar char="•"/>
            </a:pPr>
            <a:r>
              <a:rPr lang="en-US" sz="11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Graph traversal</a:t>
            </a: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systematic node exploration</a:t>
            </a:r>
            <a:endParaRPr lang="en-US" sz="110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17303" y="2588940"/>
            <a:ext cx="4909319" cy="198730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2261948" y="3350657"/>
            <a:ext cx="1325239" cy="176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BFS</a:t>
            </a:r>
            <a:endParaRPr lang="en-US" sz="1100" dirty="0"/>
          </a:p>
        </p:txBody>
      </p:sp>
      <p:sp>
        <p:nvSpPr>
          <p:cNvPr id="26" name="Text 19"/>
          <p:cNvSpPr/>
          <p:nvPr/>
        </p:nvSpPr>
        <p:spPr>
          <a:xfrm>
            <a:off x="2490548" y="3577035"/>
            <a:ext cx="1096639" cy="2312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Unweighted, level-order, complete</a:t>
            </a:r>
            <a:endParaRPr lang="en-US" sz="850" dirty="0"/>
          </a:p>
        </p:txBody>
      </p:sp>
      <p:sp>
        <p:nvSpPr>
          <p:cNvPr id="27" name="Text 20"/>
          <p:cNvSpPr/>
          <p:nvPr/>
        </p:nvSpPr>
        <p:spPr>
          <a:xfrm>
            <a:off x="3722045" y="3292790"/>
            <a:ext cx="1325239" cy="1762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UCS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3950645" y="3519167"/>
            <a:ext cx="1096639" cy="3469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Weighted, cost-optimal, greedy tie-breaks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5263606" y="3350657"/>
            <a:ext cx="1325239" cy="176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A*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492206" y="3577035"/>
            <a:ext cx="1096639" cy="2312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Heuristic-guided, optimal and efficient</a:t>
            </a:r>
            <a:endParaRPr lang="en-US" sz="850" dirty="0"/>
          </a:p>
        </p:txBody>
      </p:sp>
      <p:sp>
        <p:nvSpPr>
          <p:cNvPr id="31" name="Text 24"/>
          <p:cNvSpPr/>
          <p:nvPr/>
        </p:nvSpPr>
        <p:spPr>
          <a:xfrm>
            <a:off x="1438721" y="4641652"/>
            <a:ext cx="6266557" cy="2382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diagram above illustrates how each algorithm differs in strategy — from BFS's exhaustive level-order traversal to A*'s heuristic-guided efficiency.</a:t>
            </a:r>
            <a:endParaRPr lang="en-US" sz="7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B69AD22-7C92-365E-2B5F-D429006DC0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72156" y="4816730"/>
            <a:ext cx="1571844" cy="2572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8379" y="618009"/>
            <a:ext cx="870272" cy="270346"/>
          </a:xfrm>
          <a:prstGeom prst="roundRect">
            <a:avLst>
              <a:gd name="adj" fmla="val 17344"/>
            </a:avLst>
          </a:prstGeom>
          <a:noFill/>
          <a:ln w="4763">
            <a:solidFill>
              <a:srgbClr val="4950B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76858" y="664592"/>
            <a:ext cx="1150516" cy="1771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850" dirty="0">
                <a:solidFill>
                  <a:srgbClr val="4950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MOTIVATION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88379" y="943273"/>
            <a:ext cx="5147518" cy="4360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Why Intelligent Navigation?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88379" y="1585392"/>
            <a:ext cx="4738241" cy="2940100"/>
          </a:xfrm>
          <a:prstGeom prst="roundRect">
            <a:avLst>
              <a:gd name="adj" fmla="val 1994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93142" y="1590154"/>
            <a:ext cx="2364358" cy="1686744"/>
          </a:xfrm>
          <a:prstGeom prst="roundRect">
            <a:avLst>
              <a:gd name="adj" fmla="val 3475"/>
            </a:avLst>
          </a:prstGeom>
          <a:solidFill>
            <a:srgbClr val="DADBF1"/>
          </a:solidFill>
          <a:ln/>
        </p:spPr>
      </p:sp>
      <p:sp>
        <p:nvSpPr>
          <p:cNvPr id="8" name="Text 5"/>
          <p:cNvSpPr/>
          <p:nvPr/>
        </p:nvSpPr>
        <p:spPr>
          <a:xfrm>
            <a:off x="632668" y="1729680"/>
            <a:ext cx="1744340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Problem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32668" y="2030090"/>
            <a:ext cx="2085305" cy="1107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 campuses are complex. Manual maps are static, GPS lacks indoor routing, and traditional tools ignore real path costs.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857500" y="1590154"/>
            <a:ext cx="2364358" cy="1686744"/>
          </a:xfrm>
          <a:prstGeom prst="rect">
            <a:avLst/>
          </a:prstGeom>
          <a:solidFill>
            <a:srgbClr val="DADBF1"/>
          </a:solidFill>
          <a:ln/>
        </p:spPr>
      </p:sp>
      <p:sp>
        <p:nvSpPr>
          <p:cNvPr id="11" name="Shape 8"/>
          <p:cNvSpPr/>
          <p:nvPr/>
        </p:nvSpPr>
        <p:spPr>
          <a:xfrm>
            <a:off x="2857500" y="1590154"/>
            <a:ext cx="19050" cy="1686744"/>
          </a:xfrm>
          <a:prstGeom prst="roundRect">
            <a:avLst>
              <a:gd name="adj" fmla="val 307674"/>
            </a:avLst>
          </a:prstGeom>
          <a:solidFill>
            <a:srgbClr val="C0C1D7"/>
          </a:solidFill>
          <a:ln/>
        </p:spPr>
      </p:sp>
      <p:sp>
        <p:nvSpPr>
          <p:cNvPr id="12" name="Text 9"/>
          <p:cNvSpPr/>
          <p:nvPr/>
        </p:nvSpPr>
        <p:spPr>
          <a:xfrm>
            <a:off x="2997026" y="1729680"/>
            <a:ext cx="1744340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Gap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2997026" y="2030090"/>
            <a:ext cx="2085305" cy="11072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Existing solutions don't optimize for </a:t>
            </a:r>
            <a:r>
              <a:rPr lang="en-US" sz="10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distance and time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nor do they compare algorithmic approaches side-by-side.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93142" y="3276898"/>
            <a:ext cx="4728716" cy="1243831"/>
          </a:xfrm>
          <a:prstGeom prst="rect">
            <a:avLst/>
          </a:prstGeom>
          <a:solidFill>
            <a:srgbClr val="DADBF1"/>
          </a:solidFill>
          <a:ln/>
        </p:spPr>
      </p:sp>
      <p:sp>
        <p:nvSpPr>
          <p:cNvPr id="15" name="Shape 12"/>
          <p:cNvSpPr/>
          <p:nvPr/>
        </p:nvSpPr>
        <p:spPr>
          <a:xfrm>
            <a:off x="493142" y="3276898"/>
            <a:ext cx="4728716" cy="19050"/>
          </a:xfrm>
          <a:prstGeom prst="roundRect">
            <a:avLst>
              <a:gd name="adj" fmla="val 307674"/>
            </a:avLst>
          </a:prstGeom>
          <a:solidFill>
            <a:srgbClr val="C0C1D7"/>
          </a:solidFill>
          <a:ln/>
        </p:spPr>
      </p:sp>
      <p:sp>
        <p:nvSpPr>
          <p:cNvPr id="16" name="Text 13"/>
          <p:cNvSpPr/>
          <p:nvPr/>
        </p:nvSpPr>
        <p:spPr>
          <a:xfrm>
            <a:off x="632668" y="3416424"/>
            <a:ext cx="1744340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Our Solution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632668" y="3716834"/>
            <a:ext cx="4449663" cy="664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Python-based system using </a:t>
            </a:r>
            <a:r>
              <a:rPr lang="en-US" sz="10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search algorithms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 compute optimal, verifiable routes — with full transparency into each algorithm's decisions.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336" y="329803"/>
            <a:ext cx="896615" cy="187672"/>
          </a:xfrm>
          <a:prstGeom prst="roundRect">
            <a:avLst>
              <a:gd name="adj" fmla="val 19433"/>
            </a:avLst>
          </a:prstGeom>
          <a:solidFill>
            <a:srgbClr val="DADBF1"/>
          </a:solidFill>
          <a:ln/>
        </p:spPr>
      </p:sp>
      <p:sp>
        <p:nvSpPr>
          <p:cNvPr id="3" name="Text 1"/>
          <p:cNvSpPr/>
          <p:nvPr/>
        </p:nvSpPr>
        <p:spPr>
          <a:xfrm>
            <a:off x="892448" y="362322"/>
            <a:ext cx="1223590" cy="122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6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IMPLEMENTATION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827336" y="550664"/>
            <a:ext cx="5736059" cy="3391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Campus Graph &amp; Algorithm Comparison</a:t>
            </a:r>
            <a:endParaRPr lang="en-US" sz="2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36" y="1107951"/>
            <a:ext cx="3612207" cy="3612207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336" y="1107951"/>
            <a:ext cx="3612207" cy="361220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709071" y="1446386"/>
            <a:ext cx="1903437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Graph Representation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4709071" y="1698947"/>
            <a:ext cx="3612207" cy="4598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campus location is a </a:t>
            </a: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</a:t>
            </a: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; paths are </a:t>
            </a: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weighted edges</a:t>
            </a: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storing distance and time. A* uses a </a:t>
            </a: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heuristic table</a:t>
            </a: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(straight-line estimates to goal).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4709071" y="2241872"/>
            <a:ext cx="2743646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Sample Output — Main Gate → Lab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709071" y="2504852"/>
            <a:ext cx="3612207" cy="1227237"/>
          </a:xfrm>
          <a:prstGeom prst="roundRect">
            <a:avLst>
              <a:gd name="adj" fmla="val 3715"/>
            </a:avLst>
          </a:prstGeom>
          <a:noFill/>
          <a:ln w="4763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822478" y="2564234"/>
            <a:ext cx="1138461" cy="153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Algorithm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5725492" y="2564234"/>
            <a:ext cx="1136079" cy="153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Distance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6626126" y="2564234"/>
            <a:ext cx="1136079" cy="153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526759" y="2564234"/>
            <a:ext cx="681261" cy="3065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Nodes Explored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4822478" y="2984822"/>
            <a:ext cx="1138461" cy="153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BFS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5725492" y="2984822"/>
            <a:ext cx="1136079" cy="153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Non-optimal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6626126" y="2984822"/>
            <a:ext cx="1136079" cy="153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7526759" y="2984822"/>
            <a:ext cx="1138461" cy="153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4822478" y="3252118"/>
            <a:ext cx="1138461" cy="153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UCS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5725492" y="3252118"/>
            <a:ext cx="1136079" cy="153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Optimal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6626126" y="3252118"/>
            <a:ext cx="1136079" cy="153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Optimal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7526759" y="3252118"/>
            <a:ext cx="1138461" cy="153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50" dirty="0"/>
          </a:p>
        </p:txBody>
      </p:sp>
      <p:sp>
        <p:nvSpPr>
          <p:cNvPr id="23" name="Text 19"/>
          <p:cNvSpPr/>
          <p:nvPr/>
        </p:nvSpPr>
        <p:spPr>
          <a:xfrm>
            <a:off x="4822478" y="3519413"/>
            <a:ext cx="1138461" cy="153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A*</a:t>
            </a:r>
            <a:endParaRPr lang="en-US" sz="850" dirty="0"/>
          </a:p>
        </p:txBody>
      </p:sp>
      <p:sp>
        <p:nvSpPr>
          <p:cNvPr id="24" name="Text 20"/>
          <p:cNvSpPr/>
          <p:nvPr/>
        </p:nvSpPr>
        <p:spPr>
          <a:xfrm>
            <a:off x="5725492" y="3519413"/>
            <a:ext cx="1136079" cy="153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Optimal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6626126" y="3519413"/>
            <a:ext cx="1136079" cy="153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Optimal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7526759" y="3519413"/>
            <a:ext cx="1138461" cy="1532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4709071" y="3825553"/>
            <a:ext cx="3612207" cy="545753"/>
          </a:xfrm>
          <a:prstGeom prst="roundRect">
            <a:avLst>
              <a:gd name="adj" fmla="val 8353"/>
            </a:avLst>
          </a:prstGeom>
          <a:solidFill>
            <a:srgbClr val="B6FCB8"/>
          </a:solidFill>
          <a:ln/>
        </p:spPr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7566" y="3980483"/>
            <a:ext cx="135657" cy="108496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061719" y="3935685"/>
            <a:ext cx="3151063" cy="3065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A* explores </a:t>
            </a:r>
            <a:r>
              <a:rPr lang="en-US" sz="85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44% fewer nodes</a:t>
            </a:r>
            <a:r>
              <a:rPr lang="en-US" sz="8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than BFS while guaranteeing the optimal path.</a:t>
            </a:r>
            <a:endParaRPr lang="en-US" sz="85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65A4A504-1038-28E8-11CE-CD5B9BCF04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6759" y="4865990"/>
            <a:ext cx="1571844" cy="2572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83468"/>
            <a:ext cx="940891" cy="275927"/>
          </a:xfrm>
          <a:prstGeom prst="roundRect">
            <a:avLst>
              <a:gd name="adj" fmla="val 17263"/>
            </a:avLst>
          </a:prstGeom>
          <a:noFill/>
          <a:ln w="4763">
            <a:solidFill>
              <a:srgbClr val="4950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85936" y="530721"/>
            <a:ext cx="1218456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4950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CONCLUSION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816099"/>
            <a:ext cx="5689922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Takeaways &amp; What's Next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496119" y="1471687"/>
            <a:ext cx="4004965" cy="1684065"/>
          </a:xfrm>
          <a:prstGeom prst="roundRect">
            <a:avLst>
              <a:gd name="adj" fmla="val 3536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6927" y="1632496"/>
            <a:ext cx="190165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✅</a:t>
            </a:r>
            <a:r>
              <a:rPr lang="en-US" sz="1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What We Achieved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56927" y="1939007"/>
            <a:ext cx="3683347" cy="1055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Successfully modeled campus as a weighted graph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Implemented BFS, UCS, and A* in Python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A* demonstrated superior efficiency via heuristics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Modular, scalable architecture for extension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42842" y="1471687"/>
            <a:ext cx="4005039" cy="1684065"/>
          </a:xfrm>
          <a:prstGeom prst="roundRect">
            <a:avLst>
              <a:gd name="adj" fmla="val 3536"/>
            </a:avLst>
          </a:prstGeom>
          <a:solidFill>
            <a:srgbClr val="FFFFFF"/>
          </a:solidFill>
          <a:ln w="19050">
            <a:solidFill>
              <a:srgbClr val="C0C1D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3651" y="1632496"/>
            <a:ext cx="215212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🚀</a:t>
            </a:r>
            <a:r>
              <a:rPr lang="en-US" sz="1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 Future Enhancements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803651" y="1939007"/>
            <a:ext cx="3683422" cy="7795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GUI and mobile app version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congestion &amp; GPS integration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tracking and accessibility-based routing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96119" y="3350642"/>
            <a:ext cx="8151763" cy="10567"/>
          </a:xfrm>
          <a:prstGeom prst="rect">
            <a:avLst/>
          </a:prstGeom>
          <a:solidFill>
            <a:srgbClr val="272525">
              <a:alpha val="5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96119" y="3609231"/>
            <a:ext cx="5348139" cy="611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8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Thank You</a:t>
            </a:r>
            <a:endParaRPr lang="en-US" sz="3850" dirty="0"/>
          </a:p>
        </p:txBody>
      </p:sp>
      <p:sp>
        <p:nvSpPr>
          <p:cNvPr id="13" name="Text 11"/>
          <p:cNvSpPr/>
          <p:nvPr/>
        </p:nvSpPr>
        <p:spPr>
          <a:xfrm>
            <a:off x="496119" y="4433218"/>
            <a:ext cx="8608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Questions are welcome — Faizaan · Ishaan · Anirudh | CFAI</a:t>
            </a:r>
            <a:endParaRPr lang="en-US" sz="11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205D861-78F1-499C-DB1F-6C2FBD34E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238" y="4849690"/>
            <a:ext cx="1571844" cy="25721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420</Words>
  <Application>Microsoft Office PowerPoint</Application>
  <PresentationFormat>On-screen Show (16:9)</PresentationFormat>
  <Paragraphs>85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Inter</vt:lpstr>
      <vt:lpstr>Inter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Faizaan Mohammad</cp:lastModifiedBy>
  <cp:revision>2</cp:revision>
  <dcterms:created xsi:type="dcterms:W3CDTF">2026-05-29T16:49:58Z</dcterms:created>
  <dcterms:modified xsi:type="dcterms:W3CDTF">2026-05-29T17:12:26Z</dcterms:modified>
</cp:coreProperties>
</file>